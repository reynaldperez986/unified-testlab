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594360"/>
            <a:ext cx="10972800" cy="1188720"/>
          </a:xfrm>
          <a:prstGeom prst="roundRect">
            <a:avLst/>
          </a:prstGeom>
          <a:solidFill>
            <a:srgbClr val="073B4C"/>
          </a:solidFill>
          <a:ln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ptos Display"/>
              </a:rPr>
              <a:t>AI Agent Flow for Search, Download, Delete, and Update</a:t>
            </a:r>
          </a:p>
          <a:p>
            <a:pPr>
              <a:defRPr sz="1200">
                <a:solidFill>
                  <a:srgbClr val="E6ECF0"/>
                </a:solidFill>
                <a:latin typeface="Aptos"/>
              </a:defRPr>
            </a:pPr>
            <a:r>
              <a:t>WebConX Automation Platform | Hybrid routing: deterministic parser -&gt; guarded LLM fallback -&gt; tool execution -&gt; final LLM response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148840"/>
            <a:ext cx="34747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3474720" cy="411480"/>
          </a:xfrm>
          <a:prstGeom prst="roundRect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How It Works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679192"/>
            <a:ext cx="3200400" cy="2816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User message enters handle_chat_message(...).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Fast regex and phrase parsers handle obvious intents first.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Ambiguous phrasing uses a small yes/no LLM gate before the full fallback parser.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Tool functions query PostgreSQL or generate downloads.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A final LLM rewrites the raw tool result into the user-facing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48840"/>
            <a:ext cx="329184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2148840"/>
            <a:ext cx="3291840" cy="411480"/>
          </a:xfrm>
          <a:prstGeom prst="roundRect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Why This Hybrid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2679192"/>
            <a:ext cx="3017520" cy="2816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Keeps common requests fast.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Reduces unnecessary Ollama calls.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Lets natural language variants still work.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Keeps DB actions deterministic after intent is identified.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Improves final answer quality without changing tool outputs.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148840"/>
            <a:ext cx="3154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2148840"/>
            <a:ext cx="3154680" cy="411480"/>
          </a:xfrm>
          <a:prstGeom prst="roundRect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Core 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2679192"/>
            <a:ext cx="2880360" cy="2816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1. Deterministic parser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2. LLM trigger classifier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3. LLM fallback parser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4. Tool dispatch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5. Final response rendering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Search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Search requests try deterministic parsing first, then use an LLM trigger gate only for ambiguous search phrasing.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5603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560320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1. Parse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856232"/>
            <a:ext cx="2286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Regex handles explicit search patterns.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Examples: search for, find, file name=...</a:t>
            </a:r>
          </a:p>
        </p:txBody>
      </p:sp>
      <p:sp>
        <p:nvSpPr>
          <p:cNvPr id="7" name="Chevron 6"/>
          <p:cNvSpPr/>
          <p:nvPr/>
        </p:nvSpPr>
        <p:spPr>
          <a:xfrm>
            <a:off x="3172968" y="1847087"/>
            <a:ext cx="109728" cy="310896"/>
          </a:xfrm>
          <a:prstGeom prst="chevron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325880"/>
            <a:ext cx="25603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19272" y="1325880"/>
            <a:ext cx="2560320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2.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1856232"/>
            <a:ext cx="2286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If regex misses, a boolean LLM trigger checks if the message is search-like.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Avoids unnecessary parser calls.</a:t>
            </a:r>
          </a:p>
        </p:txBody>
      </p:sp>
      <p:sp>
        <p:nvSpPr>
          <p:cNvPr id="11" name="Chevron 10"/>
          <p:cNvSpPr/>
          <p:nvPr/>
        </p:nvSpPr>
        <p:spPr>
          <a:xfrm>
            <a:off x="5897880" y="1847087"/>
            <a:ext cx="109728" cy="310896"/>
          </a:xfrm>
          <a:prstGeom prst="chevron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44184" y="1325880"/>
            <a:ext cx="25603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44184" y="1325880"/>
            <a:ext cx="2560320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3. 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1856232"/>
            <a:ext cx="2286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Search parser LLM returns only the cleaned query.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Guard rejects step-centric queries unless they mention scripts.</a:t>
            </a:r>
          </a:p>
        </p:txBody>
      </p:sp>
      <p:sp>
        <p:nvSpPr>
          <p:cNvPr id="15" name="Chevron 14"/>
          <p:cNvSpPr/>
          <p:nvPr/>
        </p:nvSpPr>
        <p:spPr>
          <a:xfrm>
            <a:off x="8622792" y="1847087"/>
            <a:ext cx="109728" cy="310896"/>
          </a:xfrm>
          <a:prstGeom prst="chevron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69096" y="1325880"/>
            <a:ext cx="25603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69096" y="1325880"/>
            <a:ext cx="2560320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4. 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56232"/>
            <a:ext cx="2286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tool_search_sessions(query) runs the DB search.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Results are formatted as a table.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User asks</a:t>
            </a:r>
          </a:p>
        </p:txBody>
      </p:sp>
      <p:sp>
        <p:nvSpPr>
          <p:cNvPr id="20" name="Chevron 19"/>
          <p:cNvSpPr/>
          <p:nvPr/>
        </p:nvSpPr>
        <p:spPr>
          <a:xfrm>
            <a:off x="2450592" y="2907792"/>
            <a:ext cx="201168" cy="310896"/>
          </a:xfrm>
          <a:prstGeom prst="chevron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06624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Parser checks</a:t>
            </a:r>
          </a:p>
        </p:txBody>
      </p:sp>
      <p:sp>
        <p:nvSpPr>
          <p:cNvPr id="22" name="Chevron 21"/>
          <p:cNvSpPr/>
          <p:nvPr/>
        </p:nvSpPr>
        <p:spPr>
          <a:xfrm>
            <a:off x="4562856" y="2907792"/>
            <a:ext cx="201168" cy="310896"/>
          </a:xfrm>
          <a:prstGeom prst="chevron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18888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LLM helps if needed</a:t>
            </a:r>
          </a:p>
        </p:txBody>
      </p:sp>
      <p:sp>
        <p:nvSpPr>
          <p:cNvPr id="24" name="Chevron 23"/>
          <p:cNvSpPr/>
          <p:nvPr/>
        </p:nvSpPr>
        <p:spPr>
          <a:xfrm>
            <a:off x="6675120" y="2907792"/>
            <a:ext cx="201168" cy="310896"/>
          </a:xfrm>
          <a:prstGeom prst="chevron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31152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Tool executes</a:t>
            </a:r>
          </a:p>
        </p:txBody>
      </p:sp>
      <p:sp>
        <p:nvSpPr>
          <p:cNvPr id="26" name="Chevron 25"/>
          <p:cNvSpPr/>
          <p:nvPr/>
        </p:nvSpPr>
        <p:spPr>
          <a:xfrm>
            <a:off x="8787384" y="2907792"/>
            <a:ext cx="201168" cy="310896"/>
          </a:xfrm>
          <a:prstGeom prst="chevron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43416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Reply rendered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310128"/>
            <a:ext cx="10561320" cy="25237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6D77"/>
                </a:solidFill>
                <a:latin typeface="Aptos"/>
              </a:rPr>
              <a:t>Sample Phrases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search for login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can you check whether we have the smoke script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please verify whether the address test case exists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file name=test case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Download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Download routing resolves script name, optional folder, and format before returning a link or a follow-up prompt.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5603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560320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1. Parse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856232"/>
            <a:ext cx="2286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Deterministic parser reads record name, folder, and file format.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Handles download, pull, get, copy, document.</a:t>
            </a:r>
          </a:p>
        </p:txBody>
      </p:sp>
      <p:sp>
        <p:nvSpPr>
          <p:cNvPr id="7" name="Chevron 6"/>
          <p:cNvSpPr/>
          <p:nvPr/>
        </p:nvSpPr>
        <p:spPr>
          <a:xfrm>
            <a:off x="3172968" y="1847087"/>
            <a:ext cx="109728" cy="310896"/>
          </a:xfrm>
          <a:prstGeom prst="chevron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325880"/>
            <a:ext cx="25603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19272" y="1325880"/>
            <a:ext cx="2560320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2.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1856232"/>
            <a:ext cx="2286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Ambiguous export wording uses the boolean LLM trigger.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Examples: send, share, save as.</a:t>
            </a:r>
          </a:p>
        </p:txBody>
      </p:sp>
      <p:sp>
        <p:nvSpPr>
          <p:cNvPr id="11" name="Chevron 10"/>
          <p:cNvSpPr/>
          <p:nvPr/>
        </p:nvSpPr>
        <p:spPr>
          <a:xfrm>
            <a:off x="5897880" y="1847087"/>
            <a:ext cx="109728" cy="310896"/>
          </a:xfrm>
          <a:prstGeom prst="chevron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44184" y="1325880"/>
            <a:ext cx="25603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44184" y="1325880"/>
            <a:ext cx="2560320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3. 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1856232"/>
            <a:ext cx="2286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Fallback parser LLM returns record_id, fmt, and folder.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Format is normalized to csv, pdf, or doc.</a:t>
            </a:r>
          </a:p>
        </p:txBody>
      </p:sp>
      <p:sp>
        <p:nvSpPr>
          <p:cNvPr id="15" name="Chevron 14"/>
          <p:cNvSpPr/>
          <p:nvPr/>
        </p:nvSpPr>
        <p:spPr>
          <a:xfrm>
            <a:off x="8622792" y="1847087"/>
            <a:ext cx="109728" cy="310896"/>
          </a:xfrm>
          <a:prstGeom prst="chevron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69096" y="1325880"/>
            <a:ext cx="25603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69096" y="1325880"/>
            <a:ext cx="2560320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4. 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56232"/>
            <a:ext cx="2286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tool_download_session(...) resolves duplicates and builds the download URL.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If duplicates exist, it asks for project/folder clarification.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User asks</a:t>
            </a:r>
          </a:p>
        </p:txBody>
      </p:sp>
      <p:sp>
        <p:nvSpPr>
          <p:cNvPr id="20" name="Chevron 19"/>
          <p:cNvSpPr/>
          <p:nvPr/>
        </p:nvSpPr>
        <p:spPr>
          <a:xfrm>
            <a:off x="2450592" y="2907792"/>
            <a:ext cx="201168" cy="310896"/>
          </a:xfrm>
          <a:prstGeom prst="chevron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06624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Parser checks</a:t>
            </a:r>
          </a:p>
        </p:txBody>
      </p:sp>
      <p:sp>
        <p:nvSpPr>
          <p:cNvPr id="22" name="Chevron 21"/>
          <p:cNvSpPr/>
          <p:nvPr/>
        </p:nvSpPr>
        <p:spPr>
          <a:xfrm>
            <a:off x="4562856" y="2907792"/>
            <a:ext cx="201168" cy="310896"/>
          </a:xfrm>
          <a:prstGeom prst="chevron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18888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LLM helps if needed</a:t>
            </a:r>
          </a:p>
        </p:txBody>
      </p:sp>
      <p:sp>
        <p:nvSpPr>
          <p:cNvPr id="24" name="Chevron 23"/>
          <p:cNvSpPr/>
          <p:nvPr/>
        </p:nvSpPr>
        <p:spPr>
          <a:xfrm>
            <a:off x="6675120" y="2907792"/>
            <a:ext cx="201168" cy="310896"/>
          </a:xfrm>
          <a:prstGeom prst="chevron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31152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Tool executes</a:t>
            </a:r>
          </a:p>
        </p:txBody>
      </p:sp>
      <p:sp>
        <p:nvSpPr>
          <p:cNvPr id="26" name="Chevron 25"/>
          <p:cNvSpPr/>
          <p:nvPr/>
        </p:nvSpPr>
        <p:spPr>
          <a:xfrm>
            <a:off x="8787384" y="2907792"/>
            <a:ext cx="201168" cy="310896"/>
          </a:xfrm>
          <a:prstGeom prst="chevron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43416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Reply rendered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310128"/>
            <a:ext cx="10561320" cy="25237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A9D8F"/>
                </a:solidFill>
                <a:latin typeface="Aptos"/>
              </a:rPr>
              <a:t>Sample Phrases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download login test case as pdf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please send the smoke test script as csv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get a copy of address from Project001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save the login file as doc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Delete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Delete stays confirmation-first: identify the target, show the summary, then require an explicit confirmation before deletion.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5603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560320" cy="411480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1. Parse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856232"/>
            <a:ext cx="2286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Direct parser handles delete, remove, omit, ommit.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LLM gate now also helps with archive, drop, purge, erase, wipe.</a:t>
            </a:r>
          </a:p>
        </p:txBody>
      </p:sp>
      <p:sp>
        <p:nvSpPr>
          <p:cNvPr id="7" name="Chevron 6"/>
          <p:cNvSpPr/>
          <p:nvPr/>
        </p:nvSpPr>
        <p:spPr>
          <a:xfrm>
            <a:off x="3172968" y="1847087"/>
            <a:ext cx="109728" cy="310896"/>
          </a:xfrm>
          <a:prstGeom prst="chevron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325880"/>
            <a:ext cx="25603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19272" y="1325880"/>
            <a:ext cx="2560320" cy="411480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2.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1856232"/>
            <a:ext cx="2286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If static triggers miss, a delete-specific LLM classifier decides if the parser should run.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This catches softer phrasing more reliably.</a:t>
            </a:r>
          </a:p>
        </p:txBody>
      </p:sp>
      <p:sp>
        <p:nvSpPr>
          <p:cNvPr id="11" name="Chevron 10"/>
          <p:cNvSpPr/>
          <p:nvPr/>
        </p:nvSpPr>
        <p:spPr>
          <a:xfrm>
            <a:off x="5897880" y="1847087"/>
            <a:ext cx="109728" cy="310896"/>
          </a:xfrm>
          <a:prstGeom prst="chevron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44184" y="1325880"/>
            <a:ext cx="25603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44184" y="1325880"/>
            <a:ext cx="2560320" cy="411480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3. 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1856232"/>
            <a:ext cx="2286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Fallback parser LLM returns record_name and optional folder.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Project context is preserved when given.</a:t>
            </a:r>
          </a:p>
        </p:txBody>
      </p:sp>
      <p:sp>
        <p:nvSpPr>
          <p:cNvPr id="15" name="Chevron 14"/>
          <p:cNvSpPr/>
          <p:nvPr/>
        </p:nvSpPr>
        <p:spPr>
          <a:xfrm>
            <a:off x="8622792" y="1847087"/>
            <a:ext cx="109728" cy="310896"/>
          </a:xfrm>
          <a:prstGeom prst="chevron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69096" y="1325880"/>
            <a:ext cx="25603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69096" y="1325880"/>
            <a:ext cx="2560320" cy="411480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4. 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56232"/>
            <a:ext cx="2286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tool_delete_test_case(..., confirm=False) shows a summary first.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Only a later confirmation message runs confirm=True.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User asks</a:t>
            </a:r>
          </a:p>
        </p:txBody>
      </p:sp>
      <p:sp>
        <p:nvSpPr>
          <p:cNvPr id="20" name="Chevron 19"/>
          <p:cNvSpPr/>
          <p:nvPr/>
        </p:nvSpPr>
        <p:spPr>
          <a:xfrm>
            <a:off x="2450592" y="2907792"/>
            <a:ext cx="201168" cy="310896"/>
          </a:xfrm>
          <a:prstGeom prst="chevron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06624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Parser checks</a:t>
            </a:r>
          </a:p>
        </p:txBody>
      </p:sp>
      <p:sp>
        <p:nvSpPr>
          <p:cNvPr id="22" name="Chevron 21"/>
          <p:cNvSpPr/>
          <p:nvPr/>
        </p:nvSpPr>
        <p:spPr>
          <a:xfrm>
            <a:off x="4562856" y="2907792"/>
            <a:ext cx="201168" cy="310896"/>
          </a:xfrm>
          <a:prstGeom prst="chevron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18888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LLM helps if needed</a:t>
            </a:r>
          </a:p>
        </p:txBody>
      </p:sp>
      <p:sp>
        <p:nvSpPr>
          <p:cNvPr id="24" name="Chevron 23"/>
          <p:cNvSpPr/>
          <p:nvPr/>
        </p:nvSpPr>
        <p:spPr>
          <a:xfrm>
            <a:off x="6675120" y="2907792"/>
            <a:ext cx="201168" cy="310896"/>
          </a:xfrm>
          <a:prstGeom prst="chevron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31152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Tool executes</a:t>
            </a:r>
          </a:p>
        </p:txBody>
      </p:sp>
      <p:sp>
        <p:nvSpPr>
          <p:cNvPr id="26" name="Chevron 25"/>
          <p:cNvSpPr/>
          <p:nvPr/>
        </p:nvSpPr>
        <p:spPr>
          <a:xfrm>
            <a:off x="8787384" y="2907792"/>
            <a:ext cx="201168" cy="310896"/>
          </a:xfrm>
          <a:prstGeom prst="chevron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43416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Reply rendered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310128"/>
            <a:ext cx="10561320" cy="25237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D62828"/>
                </a:solidFill>
                <a:latin typeface="Aptos"/>
              </a:rPr>
              <a:t>Sample Phrases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delete smoke test case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archive this login script permanently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drop the address test case from Project001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remove this script permanently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Update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Update routes through deterministic single-value, bulk, and step-property parsers before using the LLM fallback.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5603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560320" cy="411480"/>
          </a:xfrm>
          <a:prstGeom prst="round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1. Parse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856232"/>
            <a:ext cx="2286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Tries update_step, then bulk_update_data, then update_data_value.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Folder/project context is extracted when present.</a:t>
            </a:r>
          </a:p>
        </p:txBody>
      </p:sp>
      <p:sp>
        <p:nvSpPr>
          <p:cNvPr id="7" name="Chevron 6"/>
          <p:cNvSpPr/>
          <p:nvPr/>
        </p:nvSpPr>
        <p:spPr>
          <a:xfrm>
            <a:off x="3172968" y="1847087"/>
            <a:ext cx="109728" cy="310896"/>
          </a:xfrm>
          <a:prstGeom prst="chevron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325880"/>
            <a:ext cx="25603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19272" y="1325880"/>
            <a:ext cx="2560320" cy="411480"/>
          </a:xfrm>
          <a:prstGeom prst="round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2.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1856232"/>
            <a:ext cx="2286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If regex misses, a boolean LLM trigger checks for revise, correct, fix, adjust, patch-style requests.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Avoids broad matching.</a:t>
            </a:r>
          </a:p>
        </p:txBody>
      </p:sp>
      <p:sp>
        <p:nvSpPr>
          <p:cNvPr id="11" name="Chevron 10"/>
          <p:cNvSpPr/>
          <p:nvPr/>
        </p:nvSpPr>
        <p:spPr>
          <a:xfrm>
            <a:off x="5897880" y="1847087"/>
            <a:ext cx="109728" cy="310896"/>
          </a:xfrm>
          <a:prstGeom prst="chevron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44184" y="1325880"/>
            <a:ext cx="25603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44184" y="1325880"/>
            <a:ext cx="2560320" cy="411480"/>
          </a:xfrm>
          <a:prstGeom prst="round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3. 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1856232"/>
            <a:ext cx="2286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Fallback parser LLM chooses update_data_value, bulk_update_data, or update_step.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Only explicit fields are kept.</a:t>
            </a:r>
          </a:p>
        </p:txBody>
      </p:sp>
      <p:sp>
        <p:nvSpPr>
          <p:cNvPr id="15" name="Chevron 14"/>
          <p:cNvSpPr/>
          <p:nvPr/>
        </p:nvSpPr>
        <p:spPr>
          <a:xfrm>
            <a:off x="8622792" y="1847087"/>
            <a:ext cx="109728" cy="310896"/>
          </a:xfrm>
          <a:prstGeom prst="chevron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69096" y="1325880"/>
            <a:ext cx="25603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69096" y="1325880"/>
            <a:ext cx="2560320" cy="411480"/>
          </a:xfrm>
          <a:prstGeom prst="round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4. 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56232"/>
            <a:ext cx="2286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Update tools resolve record_id, step_no, field names, and folder.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The DB is updated and a before/after summary is returned.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User asks</a:t>
            </a:r>
          </a:p>
        </p:txBody>
      </p:sp>
      <p:sp>
        <p:nvSpPr>
          <p:cNvPr id="20" name="Chevron 19"/>
          <p:cNvSpPr/>
          <p:nvPr/>
        </p:nvSpPr>
        <p:spPr>
          <a:xfrm>
            <a:off x="2450592" y="2907792"/>
            <a:ext cx="201168" cy="310896"/>
          </a:xfrm>
          <a:prstGeom prst="chevron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06624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Parser checks</a:t>
            </a:r>
          </a:p>
        </p:txBody>
      </p:sp>
      <p:sp>
        <p:nvSpPr>
          <p:cNvPr id="22" name="Chevron 21"/>
          <p:cNvSpPr/>
          <p:nvPr/>
        </p:nvSpPr>
        <p:spPr>
          <a:xfrm>
            <a:off x="4562856" y="2907792"/>
            <a:ext cx="201168" cy="310896"/>
          </a:xfrm>
          <a:prstGeom prst="chevron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18888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LLM helps if needed</a:t>
            </a:r>
          </a:p>
        </p:txBody>
      </p:sp>
      <p:sp>
        <p:nvSpPr>
          <p:cNvPr id="24" name="Chevron 23"/>
          <p:cNvSpPr/>
          <p:nvPr/>
        </p:nvSpPr>
        <p:spPr>
          <a:xfrm>
            <a:off x="6675120" y="2907792"/>
            <a:ext cx="201168" cy="310896"/>
          </a:xfrm>
          <a:prstGeom prst="chevron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31152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Tool executes</a:t>
            </a:r>
          </a:p>
        </p:txBody>
      </p:sp>
      <p:sp>
        <p:nvSpPr>
          <p:cNvPr id="26" name="Chevron 25"/>
          <p:cNvSpPr/>
          <p:nvPr/>
        </p:nvSpPr>
        <p:spPr>
          <a:xfrm>
            <a:off x="8787384" y="2907792"/>
            <a:ext cx="201168" cy="310896"/>
          </a:xfrm>
          <a:prstGeom prst="chevron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43416" y="2743200"/>
            <a:ext cx="20391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Reply rendered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310128"/>
            <a:ext cx="10561320" cy="25237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4A261"/>
                </a:solidFill>
                <a:latin typeface="Aptos"/>
              </a:rPr>
              <a:t>Sample Phrases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update email in test case 1 to alice@example.com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change step 2 locator in login test case to #submit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update email to alice@example.com and address to Manila in test case 1 from Project001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please revise the locator in test case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Hybrid Agentic Generative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ai_agent.py is a hybrid agentic generative AI assistant with deterministic routing plus LLM-based fallback and tool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" y="1572768"/>
            <a:ext cx="8686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1645920"/>
            <a:ext cx="722376" cy="722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9264" y="251460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52344"/>
            <a:ext cx="1143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C6370"/>
                </a:solidFill>
                <a:latin typeface="Aptos"/>
              </a:rPr>
              <a:t>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2834640"/>
            <a:ext cx="186537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" y="2834640"/>
            <a:ext cx="1865376" cy="411480"/>
          </a:xfrm>
          <a:prstGeom prst="roundRect">
            <a:avLst/>
          </a:prstGeom>
          <a:solidFill>
            <a:srgbClr val="073B4C"/>
          </a:solidFill>
          <a:ln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User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364992"/>
            <a:ext cx="1591056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Natural-language request enters the assistant.</a:t>
            </a:r>
          </a:p>
        </p:txBody>
      </p:sp>
      <p:sp>
        <p:nvSpPr>
          <p:cNvPr id="11" name="Chevron 10"/>
          <p:cNvSpPr/>
          <p:nvPr/>
        </p:nvSpPr>
        <p:spPr>
          <a:xfrm>
            <a:off x="2487168" y="3172968"/>
            <a:ext cx="256032" cy="365760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0008" y="291693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572768"/>
            <a:ext cx="8686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645920"/>
            <a:ext cx="722376" cy="722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00400" y="251460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Deterministic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52344"/>
            <a:ext cx="1143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C6370"/>
                </a:solidFill>
                <a:latin typeface="Aptos"/>
              </a:rPr>
              <a:t>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7208" y="2834640"/>
            <a:ext cx="186537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07208" y="2834640"/>
            <a:ext cx="1865376" cy="411480"/>
          </a:xfrm>
          <a:prstGeom prst="roundRect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Deterministic 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364992"/>
            <a:ext cx="1591056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Regex and rule-based parsers handle the common paths first.</a:t>
            </a:r>
          </a:p>
        </p:txBody>
      </p:sp>
      <p:sp>
        <p:nvSpPr>
          <p:cNvPr id="20" name="Chevron 19"/>
          <p:cNvSpPr/>
          <p:nvPr/>
        </p:nvSpPr>
        <p:spPr>
          <a:xfrm>
            <a:off x="4718304" y="3172968"/>
            <a:ext cx="256032" cy="365760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291693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77256" y="1572768"/>
            <a:ext cx="8686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l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1645920"/>
            <a:ext cx="722376" cy="7223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31536" y="251460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LLM 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0096" y="2752344"/>
            <a:ext cx="1143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C6370"/>
                </a:solidFill>
                <a:latin typeface="Aptos"/>
              </a:rPr>
              <a:t>Assist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38344" y="2834640"/>
            <a:ext cx="186537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38344" y="2834640"/>
            <a:ext cx="1865376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LLM Fallback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2936" y="3364992"/>
            <a:ext cx="1591056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A constrained LLM classifier and parser help only when the deterministic layer misses.</a:t>
            </a:r>
          </a:p>
        </p:txBody>
      </p:sp>
      <p:sp>
        <p:nvSpPr>
          <p:cNvPr id="29" name="Chevron 28"/>
          <p:cNvSpPr/>
          <p:nvPr/>
        </p:nvSpPr>
        <p:spPr>
          <a:xfrm>
            <a:off x="6949440" y="3172968"/>
            <a:ext cx="256032" cy="365760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291693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08392" y="1572768"/>
            <a:ext cx="8686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a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544" y="1645920"/>
            <a:ext cx="722376" cy="722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662672" y="251460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Tool Execution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71232" y="2752344"/>
            <a:ext cx="1143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C6370"/>
                </a:solidFill>
                <a:latin typeface="Aptos"/>
              </a:rPr>
              <a:t>Action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69480" y="2834640"/>
            <a:ext cx="186537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269480" y="2834640"/>
            <a:ext cx="1865376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Tool Execution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34072" y="3364992"/>
            <a:ext cx="1591056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Search, download, delete, update, and project actions run against the system.</a:t>
            </a:r>
          </a:p>
        </p:txBody>
      </p:sp>
      <p:sp>
        <p:nvSpPr>
          <p:cNvPr id="38" name="Chevron 37"/>
          <p:cNvSpPr/>
          <p:nvPr/>
        </p:nvSpPr>
        <p:spPr>
          <a:xfrm>
            <a:off x="9180576" y="3172968"/>
            <a:ext cx="256032" cy="365760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43416" y="291693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39528" y="1572768"/>
            <a:ext cx="8686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repl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0" y="1645920"/>
            <a:ext cx="722376" cy="72237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93808" y="251460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Final Response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02368" y="2752344"/>
            <a:ext cx="1143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C6370"/>
                </a:solidFill>
                <a:latin typeface="Aptos"/>
              </a:rPr>
              <a:t>Reply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00616" y="2834640"/>
            <a:ext cx="186537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00616" y="2834640"/>
            <a:ext cx="1865376" cy="411480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Final Response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65208" y="3364992"/>
            <a:ext cx="1591056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The LLM rewrites the raw tool output into a concise user-facing answer.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4892040"/>
            <a:ext cx="10469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831"/>
                </a:solidFill>
                <a:latin typeface="Aptos"/>
              </a:defRPr>
            </a:pPr>
            <a:r>
              <a:t>Generative AI: the LLM interprets intent, generates constrained JSON, and rewrites final responses.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Agentic AI: the assistant can choose and execute real tools instead of only answering with text.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Deterministic first: common commands stay fast, predictable, and cheaper than an LLM-first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Architecture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The agent uses deterministic routing first, then selectively asks the LLM to help with ambiguous intent and response rendering.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057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057400" cy="411480"/>
          </a:xfrm>
          <a:prstGeom prst="roundRect">
            <a:avLst/>
          </a:prstGeom>
          <a:solidFill>
            <a:srgbClr val="073B4C"/>
          </a:solidFill>
          <a:ln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User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039112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Natural language request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Optional conversation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508760"/>
            <a:ext cx="2240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508760"/>
            <a:ext cx="2240280" cy="411480"/>
          </a:xfrm>
          <a:prstGeom prst="roundRect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Deterministic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039112"/>
            <a:ext cx="19659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Regex parsers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Fast trigger tuples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Direct routing for obvious phrasing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188720"/>
            <a:ext cx="2240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0" y="1188720"/>
            <a:ext cx="2240280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Guarded LLM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8112" y="1719072"/>
            <a:ext cx="1965960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Boolean trigger classifier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Fallback intent parser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Only called when direct parsing misses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508760"/>
            <a:ext cx="19202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8120" y="1508760"/>
            <a:ext cx="1920240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Tool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2039112"/>
            <a:ext cx="1645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Search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Download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Delete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1508760"/>
            <a:ext cx="16002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66960" y="1508760"/>
            <a:ext cx="1600200" cy="411480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Finalizer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31552" y="2039112"/>
            <a:ext cx="13258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LLM rewrites raw tool output into user-facing text</a:t>
            </a:r>
          </a:p>
        </p:txBody>
      </p:sp>
      <p:sp>
        <p:nvSpPr>
          <p:cNvPr id="19" name="Chevron 18"/>
          <p:cNvSpPr/>
          <p:nvPr/>
        </p:nvSpPr>
        <p:spPr>
          <a:xfrm>
            <a:off x="2715768" y="2011680"/>
            <a:ext cx="164592" cy="292608"/>
          </a:xfrm>
          <a:prstGeom prst="chevron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5084064" y="2011680"/>
            <a:ext cx="164592" cy="292608"/>
          </a:xfrm>
          <a:prstGeom prst="chevron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7589520" y="2011680"/>
            <a:ext cx="164592" cy="292608"/>
          </a:xfrm>
          <a:prstGeom prst="chevron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9756648" y="2011680"/>
            <a:ext cx="164592" cy="292608"/>
          </a:xfrm>
          <a:prstGeom prst="chevron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3840480"/>
            <a:ext cx="10424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831"/>
                </a:solidFill>
                <a:latin typeface="Aptos"/>
              </a:defRPr>
            </a:pPr>
            <a:r>
              <a:t>Common phrasing never needs the LLM at the trigger stage.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Ambiguous phrasing is screened by a small yes/no classifier before the heavier fallback parser runs.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Tool execution remains deterministic against PostgreSQL and generated downloads.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The final response LLM improves readability without changing the underlying action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Function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Exact ai_agent.py functions mapped to the flowchart blocks used by the hybrid assistant.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6118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611880" cy="347472"/>
          </a:xfrm>
          <a:prstGeom prst="roundRect">
            <a:avLst/>
          </a:prstGeom>
          <a:solidFill>
            <a:srgbClr val="073B4C"/>
          </a:solidFill>
          <a:ln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1. Entry +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764792"/>
            <a:ext cx="335584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handle_chat_message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_execute_tool_interaction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TOOL_DISPATCH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6118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3611880" cy="347472"/>
          </a:xfrm>
          <a:prstGeom prst="roundRect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2. Deterministic Parsers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1764792"/>
            <a:ext cx="335584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_parse_delete_request, _is_delete_confirmation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_pending_delete_from_history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_parse_show_steps_request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_parse_download_request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_parse_update_step_request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_parse_bulk_update_data_request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_parse_update_data_value_request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_parse_search_sessions_request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325880"/>
            <a:ext cx="36118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611880" cy="347472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3. LLM Trigger 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9016" y="1764792"/>
            <a:ext cx="335584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_looks_like_delete_candidate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_looks_like_show_steps_candidate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_looks_like_download_candidate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_looks_like_update_candidate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_looks_like_search_candidate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_llm_should_try_*_parse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_should_try_llm_*_parse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154680"/>
            <a:ext cx="361188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154680"/>
            <a:ext cx="3611880" cy="347472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4. LLM Fallback Parsers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593592"/>
            <a:ext cx="335584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_llm_parse_delete_request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_llm_parse_show_steps_request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_llm_parse_download_request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_llm_parse_update_request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_llm_parse_search_sessions_request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_call_ollama, _extract_json_object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154680"/>
            <a:ext cx="361188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3154680"/>
            <a:ext cx="3611880" cy="347472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5. Tool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3593592"/>
            <a:ext cx="335584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tool_delete_test_case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tool_show_steps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tool_download_session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tool_update_step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tool_bulk_update_data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tool_update_data_value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tool_search_sessions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154680"/>
            <a:ext cx="361188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01000" y="3154680"/>
            <a:ext cx="3611880" cy="347472"/>
          </a:xfrm>
          <a:prstGeom prst="round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6. Response Rendering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3593592"/>
            <a:ext cx="335584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_tool_result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_render_tool_result_with_llm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_render_direct_reply_with_llm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_clean_final_reply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_build_history_text</a:t>
            </a:r>
          </a:p>
          <a:p>
            <a:pPr>
              <a:defRPr sz="800" b="0">
                <a:solidFill>
                  <a:srgbClr val="222831"/>
                </a:solidFill>
                <a:latin typeface="Consolas"/>
              </a:defRPr>
            </a:pPr>
            <a:r>
              <a:t>_extract_tool_call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303520"/>
            <a:ext cx="107899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C6370"/>
                </a:solidFill>
                <a:latin typeface="Aptos"/>
              </a:defRPr>
            </a:pPr>
            <a:r>
              <a:t>The detailed deck shows the exact implementation touchpoints; the client-facing deck removes these code references and focuses on service outcomes, governance, and user experience.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End-to-End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One operating pattern handles search, download, delete, and update from request intake through user-ready response.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" y="1325880"/>
            <a:ext cx="804672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39903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" y="2203704"/>
            <a:ext cx="896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Request 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874519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874519" cy="411480"/>
          </a:xfrm>
          <a:prstGeom prst="roundRect">
            <a:avLst/>
          </a:prstGeom>
          <a:solidFill>
            <a:srgbClr val="073B4C"/>
          </a:solidFill>
          <a:ln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Request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79192"/>
            <a:ext cx="1600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User asks in natural language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History keeps follow-up context</a:t>
            </a:r>
          </a:p>
        </p:txBody>
      </p:sp>
      <p:sp>
        <p:nvSpPr>
          <p:cNvPr id="10" name="Chevron 9"/>
          <p:cNvSpPr/>
          <p:nvPr/>
        </p:nvSpPr>
        <p:spPr>
          <a:xfrm>
            <a:off x="2404872" y="2761488"/>
            <a:ext cx="256032" cy="310896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7712" y="250545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shared runtime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8688" y="1325880"/>
            <a:ext cx="804672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399032"/>
            <a:ext cx="658368" cy="658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72968" y="2203704"/>
            <a:ext cx="896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Intent Identification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148840"/>
            <a:ext cx="1874519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0" y="2148840"/>
            <a:ext cx="1874519" cy="411480"/>
          </a:xfrm>
          <a:prstGeom prst="roundRect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Intent Identification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2679192"/>
            <a:ext cx="1600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Deterministic parser first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LLM gate only for ambiguous phrasing</a:t>
            </a:r>
          </a:p>
        </p:txBody>
      </p:sp>
      <p:sp>
        <p:nvSpPr>
          <p:cNvPr id="18" name="Chevron 17"/>
          <p:cNvSpPr/>
          <p:nvPr/>
        </p:nvSpPr>
        <p:spPr>
          <a:xfrm>
            <a:off x="4645152" y="2761488"/>
            <a:ext cx="256032" cy="310896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250545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shared runtime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58968" y="1325880"/>
            <a:ext cx="804672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399032"/>
            <a:ext cx="658368" cy="658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13248" y="2203704"/>
            <a:ext cx="896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Business 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2148840"/>
            <a:ext cx="1874519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83480" y="2148840"/>
            <a:ext cx="1874519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Business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2679192"/>
            <a:ext cx="1600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Search, download, delete, or update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Database and file operations stay deterministic</a:t>
            </a:r>
          </a:p>
        </p:txBody>
      </p:sp>
      <p:sp>
        <p:nvSpPr>
          <p:cNvPr id="26" name="Chevron 25"/>
          <p:cNvSpPr/>
          <p:nvPr/>
        </p:nvSpPr>
        <p:spPr>
          <a:xfrm>
            <a:off x="6885432" y="2761488"/>
            <a:ext cx="256032" cy="310896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250545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shared runtime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99248" y="1325880"/>
            <a:ext cx="804672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rep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399032"/>
            <a:ext cx="658368" cy="6583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53528" y="2203704"/>
            <a:ext cx="896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Structured Result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148840"/>
            <a:ext cx="1874519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23760" y="2148840"/>
            <a:ext cx="1874519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Structured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2679192"/>
            <a:ext cx="1600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Status, tables, suggestions, download metadata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Delete stays confirmation-first</a:t>
            </a:r>
          </a:p>
        </p:txBody>
      </p:sp>
      <p:sp>
        <p:nvSpPr>
          <p:cNvPr id="34" name="Chevron 33"/>
          <p:cNvSpPr/>
          <p:nvPr/>
        </p:nvSpPr>
        <p:spPr>
          <a:xfrm>
            <a:off x="9125712" y="2761488"/>
            <a:ext cx="256032" cy="310896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88552" y="250545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shared runtime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39528" y="1325880"/>
            <a:ext cx="804672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rep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1399032"/>
            <a:ext cx="658368" cy="6583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893808" y="2203704"/>
            <a:ext cx="896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Clear Response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64040" y="2148840"/>
            <a:ext cx="1874519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64040" y="2148840"/>
            <a:ext cx="1874519" cy="411480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Clear 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28632" y="2679192"/>
            <a:ext cx="1600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LLM rewrites output for readability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Business intent is preserved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343400"/>
            <a:ext cx="1097280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455371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73B4C"/>
                </a:solidFill>
                <a:latin typeface="Aptos"/>
              </a:defRPr>
            </a:pPr>
            <a:r>
              <a:t>Operation lanes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11680" y="4526280"/>
            <a:ext cx="2057400" cy="310896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491947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Find the right test case quickly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4526280"/>
            <a:ext cx="2057400" cy="310896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Download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491947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Deliver the script in the requested format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4526280"/>
            <a:ext cx="2057400" cy="310896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Delete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91947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Require review before permanent removal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06840" y="4526280"/>
            <a:ext cx="2057400" cy="310896"/>
          </a:xfrm>
          <a:prstGeom prst="round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Update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491947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Apply controlled changes with before/after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