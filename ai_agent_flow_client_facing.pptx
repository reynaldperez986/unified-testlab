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58368"/>
            <a:ext cx="10927080" cy="1325880"/>
          </a:xfrm>
          <a:prstGeom prst="roundRect">
            <a:avLst/>
          </a:prstGeom>
          <a:solidFill>
            <a:srgbClr val="073B4C"/>
          </a:solidFill>
          <a:ln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Aptos Display"/>
              </a:rPr>
              <a:t>WebConX AI Executive Brief</a:t>
            </a:r>
          </a:p>
          <a:p>
            <a:pPr>
              <a:defRPr sz="1200">
                <a:solidFill>
                  <a:srgbClr val="E6ECF0"/>
                </a:solidFill>
                <a:latin typeface="Aptos"/>
              </a:defRPr>
            </a:pPr>
            <a:r>
              <a:t>Executive audience | Faster service resolution, safer operations, clearer client experience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2331720"/>
            <a:ext cx="32461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2331720"/>
            <a:ext cx="3246120" cy="411480"/>
          </a:xfrm>
          <a:prstGeom prst="roundRect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Executive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2862072"/>
            <a:ext cx="2971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The assistant shortens turnaround for routine automation requests.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Users receive clearer next steps when information is missing.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High-risk actions keep explicit human confirmation.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331720"/>
            <a:ext cx="32461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2331720"/>
            <a:ext cx="3246120" cy="411480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Operational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152" y="2862072"/>
            <a:ext cx="2971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Search, export, update, and retirement workflows use one consistent service pattern.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The platform handles duplicate names and folder context more reliably.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Responses stay business-friendly even when requests are informal.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331720"/>
            <a:ext cx="2788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92440" y="2331720"/>
            <a:ext cx="2788920" cy="4114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2" y="2862072"/>
            <a:ext cx="25146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Lower support effort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Better client confidence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More predictable service quality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3B4C"/>
                </a:solidFill>
                <a:latin typeface="Aptos Display"/>
              </a:rPr>
              <a:t>Executive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370"/>
                </a:solidFill>
                <a:latin typeface="Aptos"/>
              </a:rPr>
              <a:t>The experience is designed to improve service speed and governance together, not trade one for the other.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9144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768096" cy="768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254203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Fast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79776"/>
            <a:ext cx="1188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C6370"/>
                </a:solidFill>
                <a:latin typeface="Aptos"/>
              </a:rPr>
              <a:t>Common requests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554480"/>
            <a:ext cx="9144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a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352" y="1627632"/>
            <a:ext cx="768096" cy="7680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40480" y="254203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Safe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779776"/>
            <a:ext cx="1188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C6370"/>
                </a:solidFill>
                <a:latin typeface="Aptos"/>
              </a:rPr>
              <a:t>Controlled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554480"/>
            <a:ext cx="9144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l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1627632"/>
            <a:ext cx="768096" cy="7680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12280" y="254203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Clear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779776"/>
            <a:ext cx="1188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C6370"/>
                </a:solidFill>
                <a:latin typeface="Aptos"/>
              </a:rPr>
              <a:t>Readable replies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1554480"/>
            <a:ext cx="9144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nsist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2952" y="1627632"/>
            <a:ext cx="768096" cy="7680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784080" y="254203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Consistent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779776"/>
            <a:ext cx="1188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C6370"/>
                </a:solidFill>
                <a:latin typeface="Aptos"/>
              </a:rPr>
              <a:t>Shared runtime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926080"/>
            <a:ext cx="27432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2926080"/>
            <a:ext cx="2743200" cy="411480"/>
          </a:xfrm>
          <a:prstGeom prst="roundRect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Faster resolution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456432"/>
            <a:ext cx="2468880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Routine requests move faster because the platform recognizes the common patterns immediately.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That improves response time without adding more manual triage.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2926080"/>
            <a:ext cx="27432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11880" y="2926080"/>
            <a:ext cx="2743200" cy="411480"/>
          </a:xfrm>
          <a:prstGeom prst="roundRect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Stronger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6472" y="3456432"/>
            <a:ext cx="2468880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Sensitive actions such as deletion remain governed by confirmation and application rules.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The AI improves guidance, not authority.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926080"/>
            <a:ext cx="27432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92240" y="2926080"/>
            <a:ext cx="2743200" cy="411480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Better client 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3456432"/>
            <a:ext cx="2468880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People can ask naturally and still get a clear, business-readable answer.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That lowers friction for self-service usage.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72600" y="2926080"/>
            <a:ext cx="20574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72600" y="2926080"/>
            <a:ext cx="2057400" cy="4114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Scalable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7192" y="3456432"/>
            <a:ext cx="1783080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One service pattern supports multiple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3B4C"/>
                </a:solidFill>
                <a:latin typeface="Aptos Display"/>
              </a:rPr>
              <a:t>Service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370"/>
                </a:solidFill>
                <a:latin typeface="Aptos"/>
              </a:rPr>
              <a:t>From an executive lens, the value comes from faster handling of the most common client requests.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00200"/>
            <a:ext cx="48920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4892040" cy="411480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2130552"/>
            <a:ext cx="461772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Locate the right automation asset quickly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Useful when stakeholders know only part of the name or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00200"/>
            <a:ext cx="48920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600200"/>
            <a:ext cx="4892040" cy="4114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130552"/>
            <a:ext cx="461772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Provide an export in the requested format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Reduces manual handoff and speeds client follow-through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566160"/>
            <a:ext cx="48920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3566160"/>
            <a:ext cx="4892040" cy="411480"/>
          </a:xfrm>
          <a:prstGeom prst="round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4096512"/>
            <a:ext cx="461772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Apply requested revisions with visible confirmation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Supports ongoing maintenance without a heavy support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566160"/>
            <a:ext cx="48920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3566160"/>
            <a:ext cx="4892040" cy="411480"/>
          </a:xfrm>
          <a:prstGeom prst="roundRect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Retire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4096512"/>
            <a:ext cx="461772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Review before removing outdated assets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Helps prevent avoidable operational loss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3B4C"/>
                </a:solidFill>
                <a:latin typeface="Aptos Display"/>
              </a:rPr>
              <a:t>End-to-End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370"/>
                </a:solidFill>
                <a:latin typeface="Aptos"/>
              </a:rPr>
              <a:t>One operating pattern handles search, download, delete, and update from request intake through user-ready response.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" y="1325880"/>
            <a:ext cx="804672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39903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688" y="2203704"/>
            <a:ext cx="896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Request Intake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874519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874519" cy="411480"/>
          </a:xfrm>
          <a:prstGeom prst="roundRect">
            <a:avLst/>
          </a:prstGeom>
          <a:solidFill>
            <a:srgbClr val="073B4C"/>
          </a:solidFill>
          <a:ln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Request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79192"/>
            <a:ext cx="1600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User asks in natural language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History keeps follow-up context</a:t>
            </a:r>
          </a:p>
        </p:txBody>
      </p:sp>
      <p:sp>
        <p:nvSpPr>
          <p:cNvPr id="10" name="Chevron 9"/>
          <p:cNvSpPr/>
          <p:nvPr/>
        </p:nvSpPr>
        <p:spPr>
          <a:xfrm>
            <a:off x="2404872" y="2761488"/>
            <a:ext cx="256032" cy="310896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7712" y="250545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shared runtime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8688" y="1325880"/>
            <a:ext cx="804672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399032"/>
            <a:ext cx="658368" cy="658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72968" y="2203704"/>
            <a:ext cx="896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Intent Identification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148840"/>
            <a:ext cx="1874519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0" y="2148840"/>
            <a:ext cx="1874519" cy="411480"/>
          </a:xfrm>
          <a:prstGeom prst="roundRect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Intent Identification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2679192"/>
            <a:ext cx="1600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Deterministic parser first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LLM gate only for ambiguous phrasing</a:t>
            </a:r>
          </a:p>
        </p:txBody>
      </p:sp>
      <p:sp>
        <p:nvSpPr>
          <p:cNvPr id="18" name="Chevron 17"/>
          <p:cNvSpPr/>
          <p:nvPr/>
        </p:nvSpPr>
        <p:spPr>
          <a:xfrm>
            <a:off x="4645152" y="2761488"/>
            <a:ext cx="256032" cy="310896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250545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shared runtime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58968" y="1325880"/>
            <a:ext cx="804672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399032"/>
            <a:ext cx="658368" cy="658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13248" y="2203704"/>
            <a:ext cx="896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Business 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2148840"/>
            <a:ext cx="1874519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83480" y="2148840"/>
            <a:ext cx="1874519" cy="411480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Business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2" y="2679192"/>
            <a:ext cx="1600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Search, download, delete, or update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Database and file operations stay deterministic</a:t>
            </a:r>
          </a:p>
        </p:txBody>
      </p:sp>
      <p:sp>
        <p:nvSpPr>
          <p:cNvPr id="26" name="Chevron 25"/>
          <p:cNvSpPr/>
          <p:nvPr/>
        </p:nvSpPr>
        <p:spPr>
          <a:xfrm>
            <a:off x="6885432" y="2761488"/>
            <a:ext cx="256032" cy="310896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250545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shared runtime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99248" y="1325880"/>
            <a:ext cx="804672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rep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399032"/>
            <a:ext cx="658368" cy="6583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653528" y="2203704"/>
            <a:ext cx="896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Structured Result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2148840"/>
            <a:ext cx="1874519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23760" y="2148840"/>
            <a:ext cx="1874519" cy="4114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Structured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352" y="2679192"/>
            <a:ext cx="1600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Status, tables, suggestions, download metadata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Delete stays confirmation-first</a:t>
            </a:r>
          </a:p>
        </p:txBody>
      </p:sp>
      <p:sp>
        <p:nvSpPr>
          <p:cNvPr id="34" name="Chevron 33"/>
          <p:cNvSpPr/>
          <p:nvPr/>
        </p:nvSpPr>
        <p:spPr>
          <a:xfrm>
            <a:off x="9125712" y="2761488"/>
            <a:ext cx="256032" cy="310896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88552" y="250545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shared runtime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39528" y="1325880"/>
            <a:ext cx="804672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rep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1399032"/>
            <a:ext cx="658368" cy="65836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893808" y="2203704"/>
            <a:ext cx="896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Clear Response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64040" y="2148840"/>
            <a:ext cx="1874519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64040" y="2148840"/>
            <a:ext cx="1874519" cy="411480"/>
          </a:xfrm>
          <a:prstGeom prst="roundRect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Clear 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28632" y="2679192"/>
            <a:ext cx="1600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LLM rewrites output for readability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Business intent is preserved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343400"/>
            <a:ext cx="1097280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4553712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73B4C"/>
                </a:solidFill>
                <a:latin typeface="Aptos"/>
              </a:defRPr>
            </a:pPr>
            <a:r>
              <a:t>Operation lanes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11680" y="4526280"/>
            <a:ext cx="2057400" cy="310896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Search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491947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Find the right test case quickly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4526280"/>
            <a:ext cx="2057400" cy="310896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Download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491947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Deliver the script in the requested format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5120" y="4526280"/>
            <a:ext cx="2057400" cy="310896"/>
          </a:xfrm>
          <a:prstGeom prst="roundRect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Delete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491947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Require review before permanent removal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06840" y="4526280"/>
            <a:ext cx="2057400" cy="310896"/>
          </a:xfrm>
          <a:prstGeom prst="round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Update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491947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Apply controlled changes with before/after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3B4C"/>
                </a:solidFill>
                <a:latin typeface="Aptos Display"/>
              </a:rPr>
              <a:t>Governance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370"/>
                </a:solidFill>
                <a:latin typeface="Aptos"/>
              </a:rPr>
              <a:t>The assistant strengthens front-end experience while core platform rules still govern the action itself.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33832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3383280" cy="411480"/>
          </a:xfrm>
          <a:prstGeom prst="roundRect">
            <a:avLst/>
          </a:prstGeom>
          <a:solidFill>
            <a:srgbClr val="073B4C"/>
          </a:solidFill>
          <a:ln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Control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039112"/>
            <a:ext cx="3108960" cy="2633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Application logic still decides the final action.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Deletion remains confirmation-first.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Folder context reduces the risk of acting on the wrong asset when names repeat.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08760"/>
            <a:ext cx="33832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383280" cy="411480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Business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2039112"/>
            <a:ext cx="3108960" cy="2633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Less rework from misunderstood requests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More predictable service delivery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Higher confidence in self-service interactions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08760"/>
            <a:ext cx="33832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383280" cy="4114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Executive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039112"/>
            <a:ext cx="3108960" cy="2633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A more polished client-facing support layer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Faster handling of common operational work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A credible foundation for broader AI-assisted service offerings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3B4C"/>
                </a:solidFill>
                <a:latin typeface="Aptos Display"/>
              </a:rPr>
              <a:t>Product UI In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370"/>
                </a:solidFill>
                <a:latin typeface="Aptos"/>
              </a:rPr>
              <a:t>Real screenshots from the automation flow make the assistant story concrete: data entry, navigation, and resulting state are all visible in the product itself.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154680" cy="4297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acb4887-38cd-48e9-aacb-34cbd944fdf1_step1_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472184"/>
            <a:ext cx="2935224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093208"/>
            <a:ext cx="2880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73B4C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12664"/>
            <a:ext cx="2880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The workflow begins inside the real application UI, not in a synthetic demo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325880"/>
            <a:ext cx="3154680" cy="4297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acb4887-38cd-48e9-aacb-34cbd944fdf1_step3_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1472184"/>
            <a:ext cx="2935224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60520" y="5093208"/>
            <a:ext cx="2880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73B4C"/>
                </a:solidFill>
                <a:latin typeface="Aptos"/>
              </a:defRPr>
            </a:pPr>
            <a:r>
              <a:t>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5312664"/>
            <a:ext cx="2880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Recorded interaction shows typed values and action execution as the script advances.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325880"/>
            <a:ext cx="3154680" cy="4297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acb4887-38cd-48e9-aacb-34cbd944fdf1_step6_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1472184"/>
            <a:ext cx="2935224" cy="3474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80960" y="5093208"/>
            <a:ext cx="2880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73B4C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5312664"/>
            <a:ext cx="2880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The final state provides visible evidence that the underlying workflow completed successfully.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806440"/>
            <a:ext cx="10789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C6370"/>
                </a:solidFill>
                <a:latin typeface="Aptos"/>
              </a:defRPr>
            </a:pPr>
            <a:r>
              <a:t>These screenshots come directly from the recorded run artifacts in logs/screenshots, so the deck ends with product evidence rather than abstract architecture alone.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