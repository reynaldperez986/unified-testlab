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731520"/>
            <a:ext cx="10927080" cy="128016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AI Agent Executive Summary</a:t>
            </a:r>
          </a:p>
          <a:p>
            <a:pPr>
              <a:defRPr sz="1200">
                <a:solidFill>
                  <a:srgbClr val="E6ECF0"/>
                </a:solidFill>
                <a:latin typeface="Aptos"/>
              </a:defRPr>
            </a:pPr>
            <a:r>
              <a:t>Search, Download, Delete, and Update | WebConX Automation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514600"/>
            <a:ext cx="20116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User request</a:t>
            </a:r>
          </a:p>
        </p:txBody>
      </p:sp>
      <p:sp>
        <p:nvSpPr>
          <p:cNvPr id="4" name="Chevron 3"/>
          <p:cNvSpPr/>
          <p:nvPr/>
        </p:nvSpPr>
        <p:spPr>
          <a:xfrm>
            <a:off x="2651760" y="2679192"/>
            <a:ext cx="201168" cy="310896"/>
          </a:xfrm>
          <a:prstGeom prst="chevron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07792" y="2514600"/>
            <a:ext cx="20116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Deterministic route</a:t>
            </a:r>
          </a:p>
        </p:txBody>
      </p:sp>
      <p:sp>
        <p:nvSpPr>
          <p:cNvPr id="6" name="Chevron 5"/>
          <p:cNvSpPr/>
          <p:nvPr/>
        </p:nvSpPr>
        <p:spPr>
          <a:xfrm>
            <a:off x="4736592" y="2679192"/>
            <a:ext cx="201168" cy="310896"/>
          </a:xfrm>
          <a:prstGeom prst="chevron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2624" y="2514600"/>
            <a:ext cx="20116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LLM assist if ambiguous</a:t>
            </a:r>
          </a:p>
        </p:txBody>
      </p:sp>
      <p:sp>
        <p:nvSpPr>
          <p:cNvPr id="8" name="Chevron 7"/>
          <p:cNvSpPr/>
          <p:nvPr/>
        </p:nvSpPr>
        <p:spPr>
          <a:xfrm>
            <a:off x="6821424" y="2679192"/>
            <a:ext cx="201168" cy="310896"/>
          </a:xfrm>
          <a:prstGeom prst="chevron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77456" y="2514600"/>
            <a:ext cx="20116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Tool action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906256" y="2679192"/>
            <a:ext cx="201168" cy="310896"/>
          </a:xfrm>
          <a:prstGeom prst="chevron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62288" y="2514600"/>
            <a:ext cx="20116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2831"/>
                </a:solidFill>
                <a:latin typeface="Aptos"/>
              </a:rPr>
              <a:t>Final reply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8328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3200400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913632"/>
            <a:ext cx="29260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Intent handling is now hybrid instead of purely prompt-driven.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Each major action has deterministic routing plus a guarded LLM fallback.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38328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3383280"/>
            <a:ext cx="320040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Business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913632"/>
            <a:ext cx="29260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Faster common-path responses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Lower LLM usage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Better handling of natural language variation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38328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09560" y="3383280"/>
            <a:ext cx="320040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Operational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913632"/>
            <a:ext cx="29260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DB actions stay deterministic.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Ambiguous requests still route correctly.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Final replies stay user-friendly.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Hybrid Agentic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ai_agent.py is a hybrid agentic generative AI assistant with deterministic routing plus LLM-based fallback and tool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645920"/>
            <a:ext cx="722376" cy="722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2834640"/>
            <a:ext cx="1865376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Natural-language request enters the assistant.</a:t>
            </a:r>
          </a:p>
        </p:txBody>
      </p:sp>
      <p:sp>
        <p:nvSpPr>
          <p:cNvPr id="11" name="Chevron 10"/>
          <p:cNvSpPr/>
          <p:nvPr/>
        </p:nvSpPr>
        <p:spPr>
          <a:xfrm>
            <a:off x="2487168" y="3172968"/>
            <a:ext cx="256032" cy="365760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291693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645920"/>
            <a:ext cx="722376" cy="722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0400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Deterministic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7208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07208" y="2834640"/>
            <a:ext cx="1865376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Deterministic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Regex and rule-based parsers handle the common paths first.</a:t>
            </a:r>
          </a:p>
        </p:txBody>
      </p:sp>
      <p:sp>
        <p:nvSpPr>
          <p:cNvPr id="20" name="Chevron 19"/>
          <p:cNvSpPr/>
          <p:nvPr/>
        </p:nvSpPr>
        <p:spPr>
          <a:xfrm>
            <a:off x="4718304" y="3172968"/>
            <a:ext cx="256032" cy="365760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291693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77256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645920"/>
            <a:ext cx="722376" cy="7223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31536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LLM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Assist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8344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38344" y="2834640"/>
            <a:ext cx="1865376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LLM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A constrained LLM classifier and parser help only when the deterministic layer misses.</a:t>
            </a:r>
          </a:p>
        </p:txBody>
      </p:sp>
      <p:sp>
        <p:nvSpPr>
          <p:cNvPr id="29" name="Chevron 28"/>
          <p:cNvSpPr/>
          <p:nvPr/>
        </p:nvSpPr>
        <p:spPr>
          <a:xfrm>
            <a:off x="6949440" y="3172968"/>
            <a:ext cx="256032" cy="365760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291693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8392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1645920"/>
            <a:ext cx="722376" cy="722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62672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Tool 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2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69480" y="2834640"/>
            <a:ext cx="1865376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4072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Search, download, delete, update, and project actions run against the system.</a:t>
            </a:r>
          </a:p>
        </p:txBody>
      </p:sp>
      <p:sp>
        <p:nvSpPr>
          <p:cNvPr id="38" name="Chevron 37"/>
          <p:cNvSpPr/>
          <p:nvPr/>
        </p:nvSpPr>
        <p:spPr>
          <a:xfrm>
            <a:off x="9180576" y="3172968"/>
            <a:ext cx="256032" cy="365760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3416" y="291693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39528" y="1572768"/>
            <a:ext cx="8686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rep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1645920"/>
            <a:ext cx="722376" cy="722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93808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Final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02368" y="2752344"/>
            <a:ext cx="1143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C6370"/>
                </a:solidFill>
                <a:latin typeface="Aptos"/>
              </a:rPr>
              <a:t>Reply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0616" y="2834640"/>
            <a:ext cx="186537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00616" y="2834640"/>
            <a:ext cx="1865376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5208" y="3364992"/>
            <a:ext cx="15910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The LLM rewrites the raw tool output into a concise user-facing answer.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892040"/>
            <a:ext cx="10469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831"/>
                </a:solidFill>
                <a:latin typeface="Aptos"/>
              </a:defRPr>
            </a:pPr>
            <a:r>
              <a:t>Generative AI: the LLM interprets intent, generates constrained JSON, and rewrites final responses.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Agentic AI: the assistant can choose and execute real tools instead of only answering with text.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Deterministic first: common commands stay fast, predictable, and cheaper than an LLM-first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Architecture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The agent uses deterministic routing first, then selectively asks the LLM to help with ambiguous intent and response rendering.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057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057400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39112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Natural language request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Optional conversation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508760"/>
            <a:ext cx="2240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508760"/>
            <a:ext cx="2240280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Deterministic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039112"/>
            <a:ext cx="19659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Regex parsers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Fast trigger tuples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Direct routing for obvious phrasing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188720"/>
            <a:ext cx="2240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188720"/>
            <a:ext cx="224028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Guarded LLM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1719072"/>
            <a:ext cx="196596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Boolean trigger classifier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Fallback intent parser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Only called when direct parsing misses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08760"/>
            <a:ext cx="19202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508760"/>
            <a:ext cx="192024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Tool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2039112"/>
            <a:ext cx="16459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Download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Delete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508760"/>
            <a:ext cx="16002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66960" y="1508760"/>
            <a:ext cx="160020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1552" y="2039112"/>
            <a:ext cx="13258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rewrites raw tool output into user-facing text</a:t>
            </a:r>
          </a:p>
        </p:txBody>
      </p:sp>
      <p:sp>
        <p:nvSpPr>
          <p:cNvPr id="19" name="Chevron 18"/>
          <p:cNvSpPr/>
          <p:nvPr/>
        </p:nvSpPr>
        <p:spPr>
          <a:xfrm>
            <a:off x="2715768" y="2011680"/>
            <a:ext cx="164592" cy="292608"/>
          </a:xfrm>
          <a:prstGeom prst="chevron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5084064" y="2011680"/>
            <a:ext cx="164592" cy="292608"/>
          </a:xfrm>
          <a:prstGeom prst="chevron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7589520" y="2011680"/>
            <a:ext cx="164592" cy="292608"/>
          </a:xfrm>
          <a:prstGeom prst="chevron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9756648" y="2011680"/>
            <a:ext cx="164592" cy="292608"/>
          </a:xfrm>
          <a:prstGeom prst="chevron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3840480"/>
            <a:ext cx="10424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2831"/>
                </a:solidFill>
                <a:latin typeface="Aptos"/>
              </a:defRPr>
            </a:pPr>
            <a:r>
              <a:t>Common phrasing never needs the LLM at the trigger stage.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Ambiguous phrasing is screened by a small yes/no classifier before the heavier fallback parser runs.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Tool execution remains deterministic against PostgreSQL and generated downloads.</a:t>
            </a:r>
          </a:p>
          <a:p>
            <a:pPr>
              <a:defRPr sz="1100">
                <a:solidFill>
                  <a:srgbClr val="222831"/>
                </a:solidFill>
                <a:latin typeface="Aptos"/>
              </a:defRPr>
            </a:pPr>
            <a:r>
              <a:t>The final response LLM improves readability without changing the underlying action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End-to-End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One operating pattern handles search, download, delete, and update from request intake through user-ready response.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9903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Request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874519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Request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User asks in natural language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History keeps follow-up context</a:t>
            </a:r>
          </a:p>
        </p:txBody>
      </p:sp>
      <p:sp>
        <p:nvSpPr>
          <p:cNvPr id="10" name="Chevron 9"/>
          <p:cNvSpPr/>
          <p:nvPr/>
        </p:nvSpPr>
        <p:spPr>
          <a:xfrm>
            <a:off x="240487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99032"/>
            <a:ext cx="658368" cy="658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7296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Intent Identification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2148840"/>
            <a:ext cx="1874519" cy="411480"/>
          </a:xfrm>
          <a:prstGeom prst="roundRect">
            <a:avLst/>
          </a:prstGeom>
          <a:solidFill>
            <a:srgbClr val="118AB2"/>
          </a:solidFill>
          <a:ln>
            <a:solidFill>
              <a:srgbClr val="118A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Intent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Deterministic parser first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gate only for ambiguous phrasing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464515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5896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399032"/>
            <a:ext cx="658368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1324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Business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83480" y="2148840"/>
            <a:ext cx="1874519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Business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Search, download, delete, or update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Database and file operations stay deterministic</a:t>
            </a:r>
          </a:p>
        </p:txBody>
      </p:sp>
      <p:sp>
        <p:nvSpPr>
          <p:cNvPr id="26" name="Chevron 25"/>
          <p:cNvSpPr/>
          <p:nvPr/>
        </p:nvSpPr>
        <p:spPr>
          <a:xfrm>
            <a:off x="688543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ep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99032"/>
            <a:ext cx="658368" cy="6583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5352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Structured 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3760" y="2148840"/>
            <a:ext cx="1874519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Structured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Status, tables, suggestions, download metadata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Delete stays confirmation-first</a:t>
            </a:r>
          </a:p>
        </p:txBody>
      </p:sp>
      <p:sp>
        <p:nvSpPr>
          <p:cNvPr id="34" name="Chevron 33"/>
          <p:cNvSpPr/>
          <p:nvPr/>
        </p:nvSpPr>
        <p:spPr>
          <a:xfrm>
            <a:off x="9125712" y="2761488"/>
            <a:ext cx="256032" cy="310896"/>
          </a:xfrm>
          <a:prstGeom prst="chevron">
            <a:avLst/>
          </a:prstGeom>
          <a:solidFill>
            <a:srgbClr val="969FAB"/>
          </a:solidFill>
          <a:ln>
            <a:solidFill>
              <a:srgbClr val="969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552" y="2505456"/>
            <a:ext cx="530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shared runtime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39528" y="1325880"/>
            <a:ext cx="804672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ep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1399032"/>
            <a:ext cx="658368" cy="6583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93808" y="2203704"/>
            <a:ext cx="896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22831"/>
                </a:solidFill>
                <a:latin typeface="Aptos"/>
              </a:rPr>
              <a:t>Clear Response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2148840"/>
            <a:ext cx="1874519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64040" y="2148840"/>
            <a:ext cx="1874519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Clear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28632" y="2679192"/>
            <a:ext cx="1600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rewrites output for readability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Business intent is preserved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343400"/>
            <a:ext cx="1097280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3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55371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73B4C"/>
                </a:solidFill>
                <a:latin typeface="Aptos"/>
              </a:defRPr>
            </a:pPr>
            <a:r>
              <a:t>Operation lanes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11680" y="4526280"/>
            <a:ext cx="2057400" cy="310896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Find the right test case quickly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526280"/>
            <a:ext cx="2057400" cy="310896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Download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Deliver the script in the requested format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4526280"/>
            <a:ext cx="2057400" cy="310896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Require review before permanent removal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4526280"/>
            <a:ext cx="2057400" cy="310896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491947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5C6370"/>
                </a:solidFill>
                <a:latin typeface="Aptos"/>
              </a:defRPr>
            </a:pPr>
            <a:r>
              <a:t>Apply controlled changes with before/after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Operational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Each operation now follows the same architecture, with a different parser and tool at the 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292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75488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Explicit parser first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trigger for existence-style questions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Search parser extracts query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DB returns matching 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0292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02920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Download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947672"/>
            <a:ext cx="475488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Parser resolves name, folder, format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trigger catches send/share phrasing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Tool handles duplicate names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Returns URL or asks for format/project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50292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02920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96512"/>
            <a:ext cx="475488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Confirmation-first workflow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trigger catches archive/drop phrasing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Tool shows summary before deletion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Second message confirms actual removal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66160"/>
            <a:ext cx="50292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5029200" cy="411480"/>
          </a:xfrm>
          <a:prstGeom prst="round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096512"/>
            <a:ext cx="475488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Single, bulk, and step updates parsed separately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trigger catches revise/fix wording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Folder context preserved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Before/after result returned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3B4C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370"/>
                </a:solidFill>
                <a:latin typeface="Aptos"/>
              </a:rPr>
              <a:t>The platform now uses the LLM as a selective assistant instead of the only router.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37560" cy="411480"/>
          </a:xfrm>
          <a:prstGeom prst="roundRect">
            <a:avLst/>
          </a:prstGeom>
          <a:solidFill>
            <a:srgbClr val="073B4C"/>
          </a:solidFill>
          <a:ln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Decision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993392"/>
            <a:ext cx="306324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Deterministic first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LLM only for ambiguous trigger detection and fallback parsing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Final rewrite improves clarity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6304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37560" cy="411480"/>
          </a:xfrm>
          <a:prstGeom prst="roundRect">
            <a:avLst/>
          </a:prstGeom>
          <a:solidFill>
            <a:srgbClr val="D62828"/>
          </a:solidFill>
          <a:ln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Risk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993392"/>
            <a:ext cx="306324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Lower accidental cross-intent matches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Confirmation guard for delete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Folder/project context preserved for duplicate names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37560" cy="411480"/>
          </a:xfrm>
          <a:prstGeom prst="roundRect">
            <a:avLst/>
          </a:prstGeom>
          <a:solidFill>
            <a:srgbClr val="006D77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Executive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93392"/>
            <a:ext cx="306324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More reliable automation assistant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Lower model cost on common paths</a:t>
            </a:r>
          </a:p>
          <a:p>
            <a:pPr>
              <a:spcAft>
                <a:spcPts val="600"/>
              </a:spcAft>
              <a:defRPr sz="1100">
                <a:solidFill>
                  <a:srgbClr val="222831"/>
                </a:solidFill>
                <a:latin typeface="Aptos"/>
              </a:defRPr>
            </a:pPr>
            <a:r>
              <a:t>Better readiness for broader natural-language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